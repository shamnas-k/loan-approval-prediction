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Medium"/>
      <p:regular r:id="rId201314"/>
    </p:embeddedFont>
    <p:embeddedFont>
      <p:font typeface="DM Sans Bold"/>
      <p:regular r:id="rId201315"/>
    </p:embeddedFont>
    <p:embeddedFont>
      <p:font typeface="Inter"/>
      <p:regular r:id="rId201316"/>
    </p:embeddedFont>
    <p:embeddedFont>
      <p:font typeface="Inter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4789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Loan Approval Prediction Using Machine Learning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4647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Shamnas 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132758"/>
            <a:ext cx="4722763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loan approval status using classification algorithms to support data-driven lending decisions.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716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89087"/>
            <a:ext cx="8151763" cy="17711"/>
          </a:xfrm>
          <a:prstGeom prst="roundRect">
            <a:avLst>
              <a:gd name="adj" fmla="val 120067"/>
            </a:avLst>
          </a:prstGeom>
          <a:solidFill>
            <a:srgbClr val="16161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6119" y="165482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08887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Banks receive many loan applications and require a reliable, consistent method to decide approval eligibility at scale.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52829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96234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classification model that predicts Loan_Status (Y/N) using applicant demographics, financials and credit history.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362857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406263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validated model to assist underwriting teams and reduce manual review workload while improving decision consistency.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59160"/>
            <a:ext cx="8149382" cy="3825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31378"/>
            <a:ext cx="495620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Exploration &amp; Missing Values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1020514"/>
            <a:ext cx="2917850" cy="29442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4489" y="4065984"/>
            <a:ext cx="413608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633764" y="1398761"/>
            <a:ext cx="3840361" cy="568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Shape:</a:t>
            </a:r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598 × 13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types: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Mix of numerical and categorical variables (see dataset overview).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633764" y="2056805"/>
            <a:ext cx="190544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Missing value findings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633764" y="2323281"/>
            <a:ext cx="3840361" cy="680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in: Dependents, LoanAmount, Loan_Amount_Term, Credit_History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missing values in many categorical fields (e.g., Gender, Married) after initial inspection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633764" y="309421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Imputation strategy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33764" y="3360688"/>
            <a:ext cx="3840361" cy="518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imputation for numerical fields: Dependents, LoanAmount, Loan_Amount_Term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 imputation for Credit_History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4489" y="4438724"/>
            <a:ext cx="7794947" cy="14064"/>
          </a:xfrm>
          <a:prstGeom prst="roundRect">
            <a:avLst>
              <a:gd name="adj" fmla="val 120490"/>
            </a:avLst>
          </a:prstGeom>
          <a:solidFill>
            <a:srgbClr val="161613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4489" y="4582195"/>
            <a:ext cx="8252147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heatmap and count summary guided targeted imputation to preserve distributional characteristics.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4" y="1454944"/>
            <a:ext cx="2995612" cy="22336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121272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Exploratory Data Analysis  Distributions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3925119" y="2311301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visual summarising distributional patterns: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3925119" y="2697584"/>
            <a:ext cx="472276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ApplicantIncome and LoanAmount are right-skewed with extreme values.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applicants choose a loan term of 360 months.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Skew and extremes informed later outlier handling and transformation choices.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015"/>
            <a:ext cx="68739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                 Outlier Analysis &amp; Treatment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16149"/>
            <a:ext cx="13859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75520" y="1234753"/>
            <a:ext cx="31134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BOXPLOT - Before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520" y="1621036"/>
            <a:ext cx="2656284" cy="1911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82443" y="1216149"/>
            <a:ext cx="3057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BOXPLOT - After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443" y="1602432"/>
            <a:ext cx="2600251" cy="19491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33333" y="1216149"/>
            <a:ext cx="13859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96119" y="3870499"/>
            <a:ext cx="8151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with outliers: ApplicantIncome, CoapplicantIncome, LoanAmount.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IQR-based capping was applied to bound extreme values rather than remove records — preserving sample size while reducing undue influence.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272"/>
            <a:ext cx="538229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Correlation &amp; Feature Engineering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88603"/>
            <a:ext cx="3761110" cy="3232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443561"/>
            <a:ext cx="463540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81649" y="116800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—&gt; Key findings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81649" y="1470347"/>
            <a:ext cx="3670920" cy="59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ApplicantIncome and LoanAmount show the strongest positive correlation.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low multicollinearity across most features.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981649" y="2164035"/>
            <a:ext cx="3670920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2200"/>
              </a:spcAft>
              <a:buNone/>
            </a:pPr>
            <a:endParaRPr lang="en-US" sz="950" dirty="0"/>
          </a:p>
          <a:p>
            <a:pPr algn="l" indent="0" marL="0">
              <a:lnSpc>
                <a:spcPct val="125000"/>
              </a:lnSpc>
              <a:spcAft>
                <a:spcPts val="2200"/>
              </a:spcAft>
              <a:buNone/>
            </a:pP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81649" y="3025899"/>
            <a:ext cx="315247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 engineering &amp; preprocessing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81649" y="3328243"/>
            <a:ext cx="3670920" cy="126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Removed: Loan_ID (identifier)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encoding for categorical variables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scaling for numerical features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Train-test split: 80:20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imbalance (Y:411, N:187) → Random oversampling applied to training set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851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 Training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95015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265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03306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linear classifier for probability estimates.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19501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726555"/>
            <a:ext cx="23860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K-Nearest Neighbours (KNN)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03306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Instance-based classifier sensitive to scaling.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195015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7265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03306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tree-based model for non-linear relationships.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770212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3017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Naive Bayes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60826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Probabilistic baseline assuming conditional independence.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2770212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3017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XGBoost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60826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Gradient-boosted trees — strong performer for tabular data.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96119" y="422136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 from each model were evaluated with accuracy, precision, recall and F1; resampling and scaling applied consistently across pipelines.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8810"/>
            <a:ext cx="57811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 Evaluation &amp; Comparison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13867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9615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observations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59372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leads on accuracy (78%) and dominates precision, recall and F1.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KNN and Random Forest show moderate performance; Logistic Regression and Naive Bayes lag.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Oversampling improved recall for the minority class, benefiting tree-based models.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378845"/>
            <a:ext cx="3902943" cy="1006376"/>
          </a:xfrm>
          <a:prstGeom prst="roundRect">
            <a:avLst>
              <a:gd name="adj" fmla="val 2113"/>
            </a:avLst>
          </a:prstGeom>
          <a:solidFill>
            <a:srgbClr val="D6D6D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593902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541812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selection: XGBoost chosen for hyperparameter tuning due to superior balanced metrics.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410766"/>
            <a:ext cx="3744367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Final Model &amp; Conclusions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829" y="952277"/>
            <a:ext cx="2879601" cy="2310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3759" y="3352726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03759" y="3598515"/>
            <a:ext cx="4677817" cy="65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a robust classifier for loan approval decision support.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cleaning, imputation, outlier capping and resampling were critical to model performance.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with tuned hyperparameters provided the strongest predictive capability.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3759" y="4321373"/>
            <a:ext cx="5135017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6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pPr algn="l" indent="0" marL="0">
              <a:lnSpc>
                <a:spcPct val="11700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Questions welcome.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03759" y="4512171"/>
            <a:ext cx="513501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845746" y="934343"/>
            <a:ext cx="2399109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700"/>
              </a:spcAft>
              <a:buNone/>
            </a:pPr>
            <a:endParaRPr lang="en-US" sz="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is the final model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845746" y="1375470"/>
            <a:ext cx="285630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tuning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845746" y="1596033"/>
            <a:ext cx="239910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GridSearchCV with 5-fold CV. Best parameters: 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learning_rate=0.1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n_estimators=200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845746" y="1973387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Final performance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45746" y="2219176"/>
            <a:ext cx="2399109" cy="65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Accuracy: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AUC: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0.89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precision, recall, and F1 among tested models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845746" y="2949997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2026-06-16T12:30:08Z</dcterms:created>
  <dcterms:modified xsi:type="dcterms:W3CDTF">2026-06-16T12:30:08Z</dcterms:modified>
</cp:coreProperties>
</file>